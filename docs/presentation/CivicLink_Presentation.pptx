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 PLAATJE LOCAL MUNICIPALITY · KIMBERLEY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CivicLink: municipal incident reporting and community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problem:</a:t>
            </a:r>
            <a:r>
              <a:rPr sz="1800">
                <a:solidFill>
                  <a:srgbClr val="475569"/>
                </a:solidFill>
              </a:rPr>
              <a:t> reports by phone, walk-in and WhatsApp; no location or photos; duplicates; phone dispatch with no record; residents never hear back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31 March 2026:</a:t>
            </a:r>
            <a:r>
              <a:rPr sz="1800">
                <a:solidFill>
                  <a:srgbClr val="475569"/>
                </a:solidFill>
              </a:rPr>
              <a:t> a workers' strike closed roads across Kimberley, with no official way to warn residents or commuters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purpose:</a:t>
            </a:r>
            <a:r>
              <a:rPr sz="1800">
                <a:solidFill>
                  <a:srgbClr val="475569"/>
                </a:solidFill>
              </a:rPr>
              <a:t> one accountable workflow from report to resolution, with targeted alerts and an audit trail</a:t>
            </a:r>
          </a:p>
        </p:txBody>
      </p:sp>
      <p:pic>
        <p:nvPicPr>
          <p:cNvPr id="7" name="Picture 6" descr="03-residen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2235963" cy="4846320"/>
          </a:xfrm>
          <a:prstGeom prst="rect">
            <a:avLst/>
          </a:prstGeom>
        </p:spPr>
      </p:pic>
      <p:pic>
        <p:nvPicPr>
          <p:cNvPr id="8" name="Picture 7" descr="13-resident-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371600"/>
            <a:ext cx="223596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SOLUTION AND FINAL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Four roles, one lifecycle: 28 of 32 requirements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Residents</a:t>
            </a:r>
            <a:r>
              <a:rPr sz="1700">
                <a:solidFill>
                  <a:srgbClr val="475569"/>
                </a:solidFill>
              </a:rPr>
              <a:t> report in 3 steps (map pin, photos, severity), get a reference, follow it live, confirm or reopen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Officials</a:t>
            </a:r>
            <a:r>
              <a:rPr sz="1700">
                <a:solidFill>
                  <a:srgbClr val="475569"/>
                </a:solidFill>
              </a:rPr>
              <a:t> department queue, triage, assign, escalate, suburb alerts, live analytics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Field workers</a:t>
            </a:r>
            <a:r>
              <a:rPr sz="1700">
                <a:solidFill>
                  <a:srgbClr val="475569"/>
                </a:solidFill>
              </a:rPr>
              <a:t> accept, start and complete with notes and proof photos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Administrators</a:t>
            </a:r>
            <a:r>
              <a:rPr sz="1700">
                <a:solidFill>
                  <a:srgbClr val="475569"/>
                </a:solidFill>
              </a:rPr>
              <a:t> staff accounts, roles, departments, SLA targets, system log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Accounts</a:t>
            </a:r>
            <a:r>
              <a:rPr sz="1700">
                <a:solidFill>
                  <a:srgbClr val="475569"/>
                </a:solidFill>
              </a:rPr>
              <a:t> Google sign-in, password reset, profile, POPIA self-deletion with anonymised records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Deferred on purpose</a:t>
            </a:r>
            <a:r>
              <a:rPr sz="1700">
                <a:solidFill>
                  <a:srgbClr val="475569"/>
                </a:solidFill>
              </a:rPr>
              <a:t> push and SMS, offline drafts, scheduled alerts: not verifiable in the assessment environment</a:t>
            </a:r>
          </a:p>
        </p:txBody>
      </p:sp>
      <p:pic>
        <p:nvPicPr>
          <p:cNvPr id="7" name="Picture 6" descr="state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297680" cy="30936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Commands on the server, real-time reads in the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18616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645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React SPA</a:t>
            </a:r>
            <a:r>
              <a:rPr sz="1500">
                <a:solidFill>
                  <a:srgbClr val="475569"/>
                </a:solidFill>
              </a:rPr>
              <a:t> reads Firestore through live listeners, under Security Rules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Callable Cloud Functions</a:t>
            </a:r>
            <a:r>
              <a:rPr sz="1500">
                <a:solidFill>
                  <a:srgbClr val="475569"/>
                </a:solidFill>
              </a:rPr>
              <a:t> authenticate, check the role, validate (shared Zod schemas), run transactions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Shared domain package</a:t>
            </a:r>
            <a:r>
              <a:rPr sz="1500">
                <a:solidFill>
                  <a:srgbClr val="475569"/>
                </a:solidFill>
              </a:rPr>
              <a:t> state machines, duplicate/SLA policies, used on both sides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Firebase Emulator Suite</a:t>
            </a:r>
            <a:r>
              <a:rPr sz="1500">
                <a:solidFill>
                  <a:srgbClr val="475569"/>
                </a:solidFill>
              </a:rPr>
              <a:t> assessed runtime: reproducible with no cloud account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Two decisions that shaped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D1: Every state change is a server command in a transaction</a:t>
            </a:r>
            <a:r>
              <a:rPr sz="1800">
                <a:solidFill>
                  <a:srgbClr val="475569"/>
                </a:solidFill>
              </a:rPr>
              <a:t> Rules alone cannot enforce "one active task", reference counters or the 100 m duplicate search. TX-1 submit, TX-2 assign, TX-3 complete are atomic; two simultaneous assignments → exactly one wins.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D3: The emulator is the assessed runtime</a:t>
            </a:r>
            <a:r>
              <a:rPr sz="1800">
                <a:solidFill>
                  <a:srgbClr val="475569"/>
                </a:solidFill>
              </a:rPr>
              <a:t> Zero cost, no network risk in the demo, identical to CI. Trade-off: schedules are triggered by an admin action locally, and push notifications are deferred.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Also:</a:t>
            </a:r>
            <a:r>
              <a:rPr sz="1800">
                <a:solidFill>
                  <a:srgbClr val="475569"/>
                </a:solidFill>
              </a:rPr>
              <a:t> Leaflet + OpenStreetMap instead of Google Maps (no billing); React SPA instead of Next.js (no server rendering needed).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132 automated tests, all green in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Unit (29)</a:t>
            </a:r>
            <a:r>
              <a:rPr sz="1600">
                <a:solidFill>
                  <a:srgbClr val="475569"/>
                </a:solidFill>
              </a:rPr>
              <a:t> state machines, duplicate boundaries 99/100/101 m and 71/72/73 h, SLA, analytics; 97.9% coverage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Security rules (20)</a:t>
            </a:r>
            <a:r>
              <a:rPr sz="1600">
                <a:solidFill>
                  <a:srgbClr val="475569"/>
                </a:solidFill>
              </a:rPr>
              <a:t> every cell of the permission matrix, allow and deny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API integration (70)</a:t>
            </a:r>
            <a:r>
              <a:rPr sz="1600">
                <a:solidFill>
                  <a:srgbClr val="475569"/>
                </a:solidFill>
              </a:rPr>
              <a:t> validation, authorisation, wrong-state and concurrency for every command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End-to-end (13)</a:t>
            </a:r>
            <a:r>
              <a:rPr sz="1600">
                <a:solidFill>
                  <a:srgbClr val="475569"/>
                </a:solidFill>
              </a:rPr>
              <a:t> full lifecycle across 3 browsers, duplicates, alerts, access denied, Google sign-in, POPIA deletion; Chrome and Firefox; 360 px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NFRs</a:t>
            </a:r>
            <a:r>
              <a:rPr sz="1600">
                <a:solidFill>
                  <a:srgbClr val="475569"/>
                </a:solidFill>
              </a:rPr>
              <a:t> update reaches the resident in 2.5 s (target 5 s), screens &lt; 1.1 s, p95 command 28 ms, 0 WCAG violations</a:t>
            </a:r>
          </a:p>
        </p:txBody>
      </p:sp>
      <p:pic>
        <p:nvPicPr>
          <p:cNvPr id="7" name="Picture 6" descr="23-triage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EVALUATION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All five success criteria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SC-01 End-to-end lifecycle</a:t>
            </a:r>
            <a:r>
              <a:rPr sz="1800">
                <a:solidFill>
                  <a:srgbClr val="475569"/>
                </a:solidFill>
              </a:rPr>
              <a:t> E2E-01 passes in Chromium and Firefox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SC-02 Server-side rules</a:t>
            </a:r>
            <a:r>
              <a:rPr sz="1800">
                <a:solidFill>
                  <a:srgbClr val="475569"/>
                </a:solidFill>
              </a:rPr>
              <a:t> BR-03 to BR-11 tested through the API, bypassing the UI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SC-03 Access control</a:t>
            </a:r>
            <a:r>
              <a:rPr sz="1800">
                <a:solidFill>
                  <a:srgbClr val="475569"/>
                </a:solidFill>
              </a:rPr>
              <a:t> 20 rule tests + authorisation tests + E2E-04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SC-04 Timely information</a:t>
            </a:r>
            <a:r>
              <a:rPr sz="1800">
                <a:solidFill>
                  <a:srgbClr val="475569"/>
                </a:solidFill>
              </a:rPr>
              <a:t> 0.09 s to the official, 2.47 s to the resident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SC-05 Live visibility</a:t>
            </a:r>
            <a:r>
              <a:rPr sz="1800">
                <a:solidFill>
                  <a:srgbClr val="475569"/>
                </a:solidFill>
              </a:rPr>
              <a:t> analytics verified against the dataset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Next</a:t>
            </a:r>
            <a:r>
              <a:rPr sz="1800">
                <a:solidFill>
                  <a:srgbClr val="475569"/>
                </a:solidFill>
              </a:rPr>
              <a:t> push and SMS for residents who are not in the app; a pilot with one department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